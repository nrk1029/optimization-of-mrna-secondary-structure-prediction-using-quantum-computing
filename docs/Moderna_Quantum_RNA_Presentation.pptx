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Exact-match rate (%)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Lit>
              <c:ptCount val="3"/>
              <c:pt idx="0">
                <c:v>p=1</c:v>
              </c:pt>
              <c:pt idx="1">
                <c:v>p=2</c:v>
              </c:pt>
              <c:pt idx="2">
                <c:v>p=3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66.7</c:v>
              </c:pt>
              <c:pt idx="2">
                <c:v>66.7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0E-434A-9B15-947CB46F4C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AE1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11827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8EAEE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472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Direct pairs</c:v>
          </c:tx>
          <c:spPr>
            <a:ln w="38100">
              <a:solidFill>
                <a:srgbClr val="2563EB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9</c:v>
              </c:pt>
              <c:pt idx="1">
                <c:v>12</c:v>
              </c:pt>
              <c:pt idx="2">
                <c:v>16</c:v>
              </c:pt>
              <c:pt idx="3">
                <c:v>20</c:v>
              </c:pt>
              <c:pt idx="4">
                <c:v>28</c:v>
              </c:pt>
              <c:pt idx="5">
                <c:v>36</c:v>
              </c:pt>
              <c:pt idx="6">
                <c:v>44</c:v>
              </c:pt>
            </c:num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17</c:v>
              </c:pt>
              <c:pt idx="2">
                <c:v>33</c:v>
              </c:pt>
              <c:pt idx="3">
                <c:v>59</c:v>
              </c:pt>
              <c:pt idx="4">
                <c:v>100</c:v>
              </c:pt>
              <c:pt idx="5">
                <c:v>161</c:v>
              </c:pt>
              <c:pt idx="6">
                <c:v>313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8D3-47BB-9E3F-3335338309EF}"/>
            </c:ext>
          </c:extLst>
        </c:ser>
        <c:ser>
          <c:idx val="1"/>
          <c:order val="1"/>
          <c:tx>
            <c:v>Stem variables</c:v>
          </c:tx>
          <c:spPr>
            <a:ln w="38100">
              <a:solidFill>
                <a:srgbClr val="06B6D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9</c:v>
              </c:pt>
              <c:pt idx="1">
                <c:v>12</c:v>
              </c:pt>
              <c:pt idx="2">
                <c:v>16</c:v>
              </c:pt>
              <c:pt idx="3">
                <c:v>20</c:v>
              </c:pt>
              <c:pt idx="4">
                <c:v>28</c:v>
              </c:pt>
              <c:pt idx="5">
                <c:v>36</c:v>
              </c:pt>
              <c:pt idx="6">
                <c:v>44</c:v>
              </c:pt>
            </c:numLit>
          </c:cat>
          <c:val>
            <c:numLit>
              <c:formatCode>General</c:formatCode>
              <c:ptCount val="7"/>
              <c:pt idx="0">
                <c:v>5</c:v>
              </c:pt>
              <c:pt idx="1">
                <c:v>9</c:v>
              </c:pt>
              <c:pt idx="2">
                <c:v>18</c:v>
              </c:pt>
              <c:pt idx="3">
                <c:v>33</c:v>
              </c:pt>
              <c:pt idx="4">
                <c:v>59</c:v>
              </c:pt>
              <c:pt idx="5">
                <c:v>82</c:v>
              </c:pt>
              <c:pt idx="6">
                <c:v>200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C8D3-47BB-9E3F-333533830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AE1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472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w="9525">
              <a:solidFill>
                <a:srgbClr val="E8EAEE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472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5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C62604-99DB-4931-A489-0BAC854A3DF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WISER X MODERNA QUANTUM CHALLENGE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874CFA-CF5F-4994-B009-F2CB004ABD73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9144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Quantum-Assisted RNA</a:t>
            </a:r>
          </a:p>
          <a:p>
            <a:pPr algn="l"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Secondary Structure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E4D7A-CA12-434F-9679-B270F9DED66C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876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QUBO formulation • ViennaRNA benchmark • QAOA validation • resource scaling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0FE9FC-2B97-4A68-849D-CFEE45F8326B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D46D2-5079-4812-B039-8D9C4B5FDE4D}"/>
              </a:ext>
            </a:extLst>
          </p:cNvPr>
          <p:cNvSpPr>
            <a:spLocks noGrp="1"/>
          </p:cNvSpPr>
          <p:nvPr/>
        </p:nvSpPr>
        <p:spPr>
          <a:xfrm>
            <a:off x="514350" y="5210175"/>
            <a:ext cx="2343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Technical 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1AD4BF-2781-4DA7-ACF1-8D42669031E2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NELLORE RAVI KUMAR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5FB54-0FEA-4FB0-99E4-59CE06BA3214}"/>
              </a:ext>
            </a:extLst>
          </p:cNvPr>
          <p:cNvSpPr>
            <a:spLocks noGrp="1"/>
          </p:cNvSpPr>
          <p:nvPr/>
        </p:nvSpPr>
        <p:spPr>
          <a:xfrm>
            <a:off x="10287000" y="59817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64983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DE34604-4DFB-401B-8E24-EC5A1AFC8BD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RNA folding is biologically </a:t>
            </a:r>
            <a:r>
              <a:rPr sz="2925" b="1" dirty="0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important</a:t>
            </a:r>
            <a:r>
              <a:rPr lang="en-US" sz="2925" b="1" dirty="0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925" b="1" dirty="0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and </a:t>
            </a:r>
            <a:r>
              <a:rPr sz="29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computationally hard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AC34F-D810-4181-8F13-371F734456B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4A79F-7B90-4642-877F-78AC09627E06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666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Secondary structure influences stability, translation efficiency, and manufacturability. The project asks whether constrained pair selection can be expressed as a QUBO and tested with quantum optimization.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8C5BB1-354F-470D-8155-C967D5A7DF78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2047875" cy="209550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F651F-8704-4AD7-97DF-EAB21CC78F9B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15525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44 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DC73C-DBB0-4A30-A40E-F0F04A672320}"/>
              </a:ext>
            </a:extLst>
          </p:cNvPr>
          <p:cNvSpPr>
            <a:spLocks noGrp="1"/>
          </p:cNvSpPr>
          <p:nvPr/>
        </p:nvSpPr>
        <p:spPr>
          <a:xfrm>
            <a:off x="647700" y="3962400"/>
            <a:ext cx="15525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Challenge sequence length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A9FB8D-D019-4C62-AB19-10BD9C2005F3}"/>
              </a:ext>
            </a:extLst>
          </p:cNvPr>
          <p:cNvSpPr>
            <a:spLocks noGrp="1"/>
          </p:cNvSpPr>
          <p:nvPr/>
        </p:nvSpPr>
        <p:spPr>
          <a:xfrm>
            <a:off x="2667000" y="2857500"/>
            <a:ext cx="2047875" cy="209550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4C8630-C8F3-4BC4-A22B-E71B77CBC922}"/>
              </a:ext>
            </a:extLst>
          </p:cNvPr>
          <p:cNvSpPr>
            <a:spLocks noGrp="1"/>
          </p:cNvSpPr>
          <p:nvPr/>
        </p:nvSpPr>
        <p:spPr>
          <a:xfrm>
            <a:off x="2914650" y="3143250"/>
            <a:ext cx="15525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−7.90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7CC91-9C01-4F72-A09B-D65132A0EA76}"/>
              </a:ext>
            </a:extLst>
          </p:cNvPr>
          <p:cNvSpPr>
            <a:spLocks noGrp="1"/>
          </p:cNvSpPr>
          <p:nvPr/>
        </p:nvSpPr>
        <p:spPr>
          <a:xfrm>
            <a:off x="2914650" y="3962400"/>
            <a:ext cx="15525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ViennaRNA MFE (kcal/mol)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768375B-BA05-4FE7-BCA7-C289992663AA}"/>
              </a:ext>
            </a:extLst>
          </p:cNvPr>
          <p:cNvSpPr>
            <a:spLocks noGrp="1"/>
          </p:cNvSpPr>
          <p:nvPr/>
        </p:nvSpPr>
        <p:spPr>
          <a:xfrm>
            <a:off x="4933950" y="2857500"/>
            <a:ext cx="2047875" cy="209550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5BC91-3C1B-4BA3-9776-D6FE567E10F4}"/>
              </a:ext>
            </a:extLst>
          </p:cNvPr>
          <p:cNvSpPr>
            <a:spLocks noGrp="1"/>
          </p:cNvSpPr>
          <p:nvPr/>
        </p:nvSpPr>
        <p:spPr>
          <a:xfrm>
            <a:off x="5181600" y="3143250"/>
            <a:ext cx="15525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9.10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0E5DB-8E80-4AA9-B2BE-2FEF8EF52D94}"/>
              </a:ext>
            </a:extLst>
          </p:cNvPr>
          <p:cNvSpPr>
            <a:spLocks noGrp="1"/>
          </p:cNvSpPr>
          <p:nvPr/>
        </p:nvSpPr>
        <p:spPr>
          <a:xfrm>
            <a:off x="5181600" y="3962400"/>
            <a:ext cx="15525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Supplied candidate energy gap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B863821-7C2F-4DE6-8B5D-74F6F74F98FA}"/>
              </a:ext>
            </a:extLst>
          </p:cNvPr>
          <p:cNvSpPr>
            <a:spLocks noGrp="1"/>
          </p:cNvSpPr>
          <p:nvPr/>
        </p:nvSpPr>
        <p:spPr>
          <a:xfrm>
            <a:off x="7524750" y="1200150"/>
            <a:ext cx="4267200" cy="4248150"/>
          </a:xfrm>
          <a:prstGeom prst="roundRect">
            <a:avLst>
              <a:gd name="adj" fmla="val 1794"/>
            </a:avLst>
          </a:prstGeom>
          <a:solidFill>
            <a:srgbClr val="EAF5FB"/>
          </a:solidFill>
          <a:ln w="9525">
            <a:solidFill>
              <a:srgbClr val="B8DD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DC3EFC-A6A8-440D-A717-1F1554D83191}"/>
              </a:ext>
            </a:extLst>
          </p:cNvPr>
          <p:cNvSpPr>
            <a:spLocks noGrp="1"/>
          </p:cNvSpPr>
          <p:nvPr/>
        </p:nvSpPr>
        <p:spPr>
          <a:xfrm>
            <a:off x="7829550" y="15240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Challenge 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22DA5D-D2AC-49EF-ADE4-13D1E922EFBD}"/>
              </a:ext>
            </a:extLst>
          </p:cNvPr>
          <p:cNvSpPr>
            <a:spLocks noGrp="1"/>
          </p:cNvSpPr>
          <p:nvPr/>
        </p:nvSpPr>
        <p:spPr>
          <a:xfrm>
            <a:off x="7829550" y="2114550"/>
            <a:ext cx="3619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GGAGCAAAACUUGUCGAUUGAGAAC</a:t>
            </a:r>
          </a:p>
          <a:p>
            <a:pPr algn="l">
              <a:defRPr sz="1650" b="0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AAAAUACAGAAUUUGCUUG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8106A1-BEA0-46E0-BEAB-0B2B46832DC2}"/>
              </a:ext>
            </a:extLst>
          </p:cNvPr>
          <p:cNvSpPr>
            <a:spLocks noGrp="1"/>
          </p:cNvSpPr>
          <p:nvPr/>
        </p:nvSpPr>
        <p:spPr>
          <a:xfrm>
            <a:off x="7829550" y="33528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Reference 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388678-6C60-4565-9ADB-A4C6585C7D1C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3619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.(((((((..((((...(((....)))...</a:t>
            </a:r>
          </a:p>
          <a:p>
            <a:pPr algn="l">
              <a:defRPr sz="1500" b="0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))))..))))))).</a:t>
            </a:r>
          </a:p>
        </p:txBody>
      </p:sp>
    </p:spTree>
    <p:extLst>
      <p:ext uri="{BB962C8B-B14F-4D97-AF65-F5344CB8AC3E}">
        <p14:creationId xmlns:p14="http://schemas.microsoft.com/office/powerpoint/2010/main" val="4084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3FA2D51-F217-4713-B9D0-7C449F753BB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101" lnSpcReduction="20000"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hybrid workflow keeps optimization and biological validation separate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6DB18-CAAD-413B-BC63-99296BF1864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190750" y="3143250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cxnSp>
        <p:nvCxnSpPr>
          <p:cNvPr id="27" name="Straight Arrow Connector 26"/>
          <p:cNvCxnSpPr/>
          <p:nvPr/>
        </p:nvCxnSpPr>
        <p:spPr>
          <a:xfrm>
            <a:off x="4514850" y="3143250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cxnSp>
        <p:nvCxnSpPr>
          <p:cNvPr id="28" name="Straight Arrow Connector 27"/>
          <p:cNvCxnSpPr/>
          <p:nvPr/>
        </p:nvCxnSpPr>
        <p:spPr>
          <a:xfrm>
            <a:off x="6838950" y="3143250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cxnSp>
        <p:nvCxnSpPr>
          <p:cNvPr id="29" name="Straight Arrow Connector 28"/>
          <p:cNvCxnSpPr/>
          <p:nvPr/>
        </p:nvCxnSpPr>
        <p:spPr>
          <a:xfrm>
            <a:off x="9163050" y="3143250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A05AEA-A2D6-4149-879D-A40D2A1BB446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1905000" cy="20002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27AA3-B2A5-4723-B6A6-44BBF29C8064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 Normalize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4D0BFD-2DF1-40B4-A3FD-D17F8974EFDC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Validate RNA and standardize T → U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BBBFC3-D820-4441-8F95-338A2B1827CC}"/>
              </a:ext>
            </a:extLst>
          </p:cNvPr>
          <p:cNvSpPr>
            <a:spLocks noGrp="1"/>
          </p:cNvSpPr>
          <p:nvPr/>
        </p:nvSpPr>
        <p:spPr>
          <a:xfrm>
            <a:off x="2724150" y="2190750"/>
            <a:ext cx="1905000" cy="20002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645B8A-40B4-4397-B7C7-B0543EDDC28E}"/>
              </a:ext>
            </a:extLst>
          </p:cNvPr>
          <p:cNvSpPr>
            <a:spLocks noGrp="1"/>
          </p:cNvSpPr>
          <p:nvPr/>
        </p:nvSpPr>
        <p:spPr>
          <a:xfrm>
            <a:off x="2914650" y="2476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 Generate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306A20-6D40-4FC0-8622-611C51982ECE}"/>
              </a:ext>
            </a:extLst>
          </p:cNvPr>
          <p:cNvSpPr>
            <a:spLocks noGrp="1"/>
          </p:cNvSpPr>
          <p:nvPr/>
        </p:nvSpPr>
        <p:spPr>
          <a:xfrm>
            <a:off x="2914650" y="30480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Enumerate canonical and wobble pairs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8037345-CCCD-4532-9263-D6AC41FF0D52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1905000" cy="200025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 w="9525">
            <a:solidFill>
              <a:srgbClr val="8CCF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B72B76-C2A7-4978-92DE-89F145BE1173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  Optimize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385820-C181-4B5C-ACE9-57E3D45AA98C}"/>
              </a:ext>
            </a:extLst>
          </p:cNvPr>
          <p:cNvSpPr>
            <a:spLocks noGrp="1"/>
          </p:cNvSpPr>
          <p:nvPr/>
        </p:nvSpPr>
        <p:spPr>
          <a:xfrm>
            <a:off x="5238750" y="30480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Build QUBO; solve exactly or with QAOA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49F8CDA-428F-45A8-9819-810A5B6BD5B8}"/>
              </a:ext>
            </a:extLst>
          </p:cNvPr>
          <p:cNvSpPr>
            <a:spLocks noGrp="1"/>
          </p:cNvSpPr>
          <p:nvPr/>
        </p:nvSpPr>
        <p:spPr>
          <a:xfrm>
            <a:off x="7372350" y="2190750"/>
            <a:ext cx="1905000" cy="20002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F1AB1-F956-4A55-B81A-813F44CA9C3E}"/>
              </a:ext>
            </a:extLst>
          </p:cNvPr>
          <p:cNvSpPr>
            <a:spLocks noGrp="1"/>
          </p:cNvSpPr>
          <p:nvPr/>
        </p:nvSpPr>
        <p:spPr>
          <a:xfrm>
            <a:off x="7562850" y="2476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Decode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4891D5-4699-4493-859D-9EF787EFC070}"/>
              </a:ext>
            </a:extLst>
          </p:cNvPr>
          <p:cNvSpPr>
            <a:spLocks noGrp="1"/>
          </p:cNvSpPr>
          <p:nvPr/>
        </p:nvSpPr>
        <p:spPr>
          <a:xfrm>
            <a:off x="7562850" y="30480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Convert selected variables to dot-bracket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4818E98-33B5-426C-A0BC-92925C58C2B3}"/>
              </a:ext>
            </a:extLst>
          </p:cNvPr>
          <p:cNvSpPr>
            <a:spLocks noGrp="1"/>
          </p:cNvSpPr>
          <p:nvPr/>
        </p:nvSpPr>
        <p:spPr>
          <a:xfrm>
            <a:off x="9696450" y="2190750"/>
            <a:ext cx="1905000" cy="20002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9360F5-98E2-4119-A4DC-B9BED106D5A2}"/>
              </a:ext>
            </a:extLst>
          </p:cNvPr>
          <p:cNvSpPr>
            <a:spLocks noGrp="1"/>
          </p:cNvSpPr>
          <p:nvPr/>
        </p:nvSpPr>
        <p:spPr>
          <a:xfrm>
            <a:off x="9886950" y="2476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  Evaluate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2B3B99-515E-4BD9-8402-1DD8F6430066}"/>
              </a:ext>
            </a:extLst>
          </p:cNvPr>
          <p:cNvSpPr>
            <a:spLocks noGrp="1"/>
          </p:cNvSpPr>
          <p:nvPr/>
        </p:nvSpPr>
        <p:spPr>
          <a:xfrm>
            <a:off x="9886950" y="30480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 Vienna energy and pair metrics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7BF1B8-BF5F-4636-8C66-7128F68A8209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D78302-D465-48D6-828B-9FECC0779E44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The QUBO score measures combinatorial quality. ViennaRNA energy measures thermodynamic quality. They must not be treated as the same quantity.</a:t>
            </a:r>
          </a:p>
        </p:txBody>
      </p:sp>
    </p:spTree>
    <p:extLst>
      <p:ext uri="{BB962C8B-B14F-4D97-AF65-F5344CB8AC3E}">
        <p14:creationId xmlns:p14="http://schemas.microsoft.com/office/powerpoint/2010/main" val="82799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50E8923-590A-415E-B7CC-A23C2E96410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QUBO rewards valid pairs and penalizes structural conflicts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EB3BB-CE03-4187-8759-710C83AD1DD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C353E3-B37B-4F00-BB61-18268AD20D78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5429250" cy="4000500"/>
          </a:xfrm>
          <a:prstGeom prst="roundRect">
            <a:avLst>
              <a:gd name="adj" fmla="val 1905"/>
            </a:avLst>
          </a:prstGeom>
          <a:solidFill>
            <a:srgbClr val="EAF5FB"/>
          </a:solidFill>
          <a:ln w="9525">
            <a:solidFill>
              <a:srgbClr val="B8DDE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81E3A6-CD2A-45F0-B92F-BABBBE5F9B6A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H(x) = Σᵢ wᵢxᵢ + Σ(i,j) Pᵢⱼxᵢxⱼ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5E3557-0271-4B2D-A6C6-CDA66947A725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xᵢⱼ = 1 when candidate pair (i,j) is selected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1B75C-B64D-4D4D-8682-09B04A9208C5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Optimization objective—not a kcal/mol energy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E2613-3E8A-4BD6-9973-3BA2CD92A346}"/>
              </a:ext>
            </a:extLst>
          </p:cNvPr>
          <p:cNvSpPr>
            <a:spLocks noGrp="1"/>
          </p:cNvSpPr>
          <p:nvPr/>
        </p:nvSpPr>
        <p:spPr>
          <a:xfrm>
            <a:off x="6419850" y="1409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rewards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ABE9CC-C12C-40F9-8DAA-3785B8E28255}"/>
              </a:ext>
            </a:extLst>
          </p:cNvPr>
          <p:cNvSpPr>
            <a:spLocks noGrp="1"/>
          </p:cNvSpPr>
          <p:nvPr/>
        </p:nvSpPr>
        <p:spPr>
          <a:xfrm>
            <a:off x="6419850" y="1943100"/>
            <a:ext cx="4857750" cy="533400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AB4A7-5D86-43F9-9240-C5392AF2F5EC}"/>
              </a:ext>
            </a:extLst>
          </p:cNvPr>
          <p:cNvSpPr>
            <a:spLocks noGrp="1"/>
          </p:cNvSpPr>
          <p:nvPr/>
        </p:nvSpPr>
        <p:spPr>
          <a:xfrm>
            <a:off x="6629400" y="2095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G–C / C–G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07F207-951E-4E6A-AB4E-0217DAD6217C}"/>
              </a:ext>
            </a:extLst>
          </p:cNvPr>
          <p:cNvSpPr>
            <a:spLocks noGrp="1"/>
          </p:cNvSpPr>
          <p:nvPr/>
        </p:nvSpPr>
        <p:spPr>
          <a:xfrm>
            <a:off x="10287000" y="20669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−3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5BE4EA-8840-4F18-88E2-F326F5A87BB8}"/>
              </a:ext>
            </a:extLst>
          </p:cNvPr>
          <p:cNvSpPr>
            <a:spLocks noGrp="1"/>
          </p:cNvSpPr>
          <p:nvPr/>
        </p:nvSpPr>
        <p:spPr>
          <a:xfrm>
            <a:off x="6419850" y="2628900"/>
            <a:ext cx="4857750" cy="533400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F73DF2-CB10-4640-8E39-A1AA9B942671}"/>
              </a:ext>
            </a:extLst>
          </p:cNvPr>
          <p:cNvSpPr>
            <a:spLocks noGrp="1"/>
          </p:cNvSpPr>
          <p:nvPr/>
        </p:nvSpPr>
        <p:spPr>
          <a:xfrm>
            <a:off x="6629400" y="2781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A–U / U–A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DBB95-3216-4240-B5C2-F2C65EA8AD1E}"/>
              </a:ext>
            </a:extLst>
          </p:cNvPr>
          <p:cNvSpPr>
            <a:spLocks noGrp="1"/>
          </p:cNvSpPr>
          <p:nvPr/>
        </p:nvSpPr>
        <p:spPr>
          <a:xfrm>
            <a:off x="10287000" y="27527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−2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69C39C-E988-4549-B1BA-C3C0175B4156}"/>
              </a:ext>
            </a:extLst>
          </p:cNvPr>
          <p:cNvSpPr>
            <a:spLocks noGrp="1"/>
          </p:cNvSpPr>
          <p:nvPr/>
        </p:nvSpPr>
        <p:spPr>
          <a:xfrm>
            <a:off x="6419850" y="3314700"/>
            <a:ext cx="4857750" cy="533400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38216-6B01-4832-B2BD-C3DFCAC827A6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G–U / U–G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B561A-8E26-4920-BB7A-93E106DFFD91}"/>
              </a:ext>
            </a:extLst>
          </p:cNvPr>
          <p:cNvSpPr>
            <a:spLocks noGrp="1"/>
          </p:cNvSpPr>
          <p:nvPr/>
        </p:nvSpPr>
        <p:spPr>
          <a:xfrm>
            <a:off x="10287000" y="34385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−1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9966B-2F4E-4C59-B330-C06DDBB1DDB4}"/>
              </a:ext>
            </a:extLst>
          </p:cNvPr>
          <p:cNvSpPr>
            <a:spLocks noGrp="1"/>
          </p:cNvSpPr>
          <p:nvPr/>
        </p:nvSpPr>
        <p:spPr>
          <a:xfrm>
            <a:off x="6419850" y="42481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Quadratic penalty  +8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AEC956-98BE-44B1-B316-39527E9E9D89}"/>
              </a:ext>
            </a:extLst>
          </p:cNvPr>
          <p:cNvSpPr>
            <a:spLocks noGrp="1"/>
          </p:cNvSpPr>
          <p:nvPr/>
        </p:nvSpPr>
        <p:spPr>
          <a:xfrm>
            <a:off x="6419850" y="4686300"/>
            <a:ext cx="485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Applied when pairs share a nucleotide or cross to form a pseudoknot.</a:t>
            </a:r>
          </a:p>
        </p:txBody>
      </p:sp>
    </p:spTree>
    <p:extLst>
      <p:ext uri="{BB962C8B-B14F-4D97-AF65-F5344CB8AC3E}">
        <p14:creationId xmlns:p14="http://schemas.microsoft.com/office/powerpoint/2010/main" val="192136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5448DED-80C9-4AE2-ABA4-A1BC1F8F7CD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9-qubit exact QUBO reproduces the ViennaRNA optimum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95E6B-2063-4E4B-8852-C0CC58189BE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376E7-991E-4B41-9583-EC16229E6CC4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63A5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63A5F"/>
                </a:solidFill>
                <a:latin typeface="Aptos Mono"/>
                <a:ea typeface="Aptos Mono"/>
                <a:cs typeface="Aptos Mono"/>
              </a:rPr>
              <a:t>Reduced sequence  GGGAAACCC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02E94A-F02B-4641-AFC8-9ABA3A2B4422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452A0-B384-4B5B-BF64-56C84BD903E5}"/>
              </a:ext>
            </a:extLst>
          </p:cNvPr>
          <p:cNvSpPr>
            <a:spLocks noGrp="1"/>
          </p:cNvSpPr>
          <p:nvPr/>
        </p:nvSpPr>
        <p:spPr>
          <a:xfrm>
            <a:off x="647700" y="2247900"/>
            <a:ext cx="2838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(((...)))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8DCE9-529C-4F41-88AE-89F96C50B344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28384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Exact QUBO structure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MFE gap: 0.00 kcal/mol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14B565-3DDE-43BE-B099-2ED4BB366FE6}"/>
              </a:ext>
            </a:extLst>
          </p:cNvPr>
          <p:cNvSpPr>
            <a:spLocks noGrp="1"/>
          </p:cNvSpPr>
          <p:nvPr/>
        </p:nvSpPr>
        <p:spPr>
          <a:xfrm>
            <a:off x="4095750" y="196215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D532E-95F6-4E0C-94E3-350A16E4161D}"/>
              </a:ext>
            </a:extLst>
          </p:cNvPr>
          <p:cNvSpPr>
            <a:spLocks noGrp="1"/>
          </p:cNvSpPr>
          <p:nvPr/>
        </p:nvSpPr>
        <p:spPr>
          <a:xfrm>
            <a:off x="4343400" y="2247900"/>
            <a:ext cx="2838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 /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4831C-AF24-4344-9C8A-8F90D2579065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28384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QAOA depth/seed runs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matching exact optimum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01DDEC-B584-4199-ACDA-A7447237A7C0}"/>
              </a:ext>
            </a:extLst>
          </p:cNvPr>
          <p:cNvSpPr>
            <a:spLocks noGrp="1"/>
          </p:cNvSpPr>
          <p:nvPr/>
        </p:nvSpPr>
        <p:spPr>
          <a:xfrm>
            <a:off x="7791450" y="196215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F7B66-1EB9-448C-9D2A-59963903F569}"/>
              </a:ext>
            </a:extLst>
          </p:cNvPr>
          <p:cNvSpPr>
            <a:spLocks noGrp="1"/>
          </p:cNvSpPr>
          <p:nvPr/>
        </p:nvSpPr>
        <p:spPr>
          <a:xfrm>
            <a:off x="8039100" y="2247900"/>
            <a:ext cx="2838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9 /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8D851-9236-4D68-BB21-41F5C1D60867}"/>
              </a:ext>
            </a:extLst>
          </p:cNvPr>
          <p:cNvSpPr>
            <a:spLocks noGrp="1"/>
          </p:cNvSpPr>
          <p:nvPr/>
        </p:nvSpPr>
        <p:spPr>
          <a:xfrm>
            <a:off x="8039100" y="3067050"/>
            <a:ext cx="28384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Ideal + noisy p=1 runs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matching exact optimum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6DBAE-7B35-4C69-B930-5255F4A6E4D2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B32CF-55FB-484C-8770-D510A0B04406}"/>
              </a:ext>
            </a:extLst>
          </p:cNvPr>
          <p:cNvSpPr>
            <a:spLocks noGrp="1"/>
          </p:cNvSpPr>
          <p:nvPr/>
        </p:nvSpPr>
        <p:spPr>
          <a:xfrm>
            <a:off x="400050" y="5257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The formulation is correct on a small instance. It does not prove that the simplified objective scales to biologically accurate full-length folding.</a:t>
            </a:r>
          </a:p>
        </p:txBody>
      </p:sp>
    </p:spTree>
    <p:extLst>
      <p:ext uri="{BB962C8B-B14F-4D97-AF65-F5344CB8AC3E}">
        <p14:creationId xmlns:p14="http://schemas.microsoft.com/office/powerpoint/2010/main" val="20745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A7661B-C8FC-4676-B0F6-F168481556C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Greater QAOA depth increased runtime—not reliability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45899-4896-499D-B89D-D77A158BF57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419100" y="1428750"/>
          <a:ext cx="619125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5626B0-6513-4C6C-9B2C-BBF6AF771431}"/>
              </a:ext>
            </a:extLst>
          </p:cNvPr>
          <p:cNvSpPr>
            <a:spLocks noGrp="1"/>
          </p:cNvSpPr>
          <p:nvPr/>
        </p:nvSpPr>
        <p:spPr>
          <a:xfrm>
            <a:off x="7143750" y="15430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B4F42-75E4-4F7A-A82C-A12ECE9779D3}"/>
              </a:ext>
            </a:extLst>
          </p:cNvPr>
          <p:cNvSpPr>
            <a:spLocks noGrp="1"/>
          </p:cNvSpPr>
          <p:nvPr/>
        </p:nvSpPr>
        <p:spPr>
          <a:xfrm>
            <a:off x="7391400" y="1828800"/>
            <a:ext cx="1504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0.87 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32FFB2-4F79-48EB-A8C4-1BB6156F24AB}"/>
              </a:ext>
            </a:extLst>
          </p:cNvPr>
          <p:cNvSpPr>
            <a:spLocks noGrp="1"/>
          </p:cNvSpPr>
          <p:nvPr/>
        </p:nvSpPr>
        <p:spPr>
          <a:xfrm>
            <a:off x="7391400" y="2647950"/>
            <a:ext cx="1504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Fastest exact match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p=1, seed 21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A15340-730F-48AB-A83B-9F13A4748A0F}"/>
              </a:ext>
            </a:extLst>
          </p:cNvPr>
          <p:cNvSpPr>
            <a:spLocks noGrp="1"/>
          </p:cNvSpPr>
          <p:nvPr/>
        </p:nvSpPr>
        <p:spPr>
          <a:xfrm>
            <a:off x="9410700" y="15430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1B15F-91C2-49B6-BDCB-118D3622A161}"/>
              </a:ext>
            </a:extLst>
          </p:cNvPr>
          <p:cNvSpPr>
            <a:spLocks noGrp="1"/>
          </p:cNvSpPr>
          <p:nvPr/>
        </p:nvSpPr>
        <p:spPr>
          <a:xfrm>
            <a:off x="9658350" y="1828800"/>
            <a:ext cx="1504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2.57 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2AAC6A-A19B-4817-AA5A-E78F7403FEB1}"/>
              </a:ext>
            </a:extLst>
          </p:cNvPr>
          <p:cNvSpPr>
            <a:spLocks noGrp="1"/>
          </p:cNvSpPr>
          <p:nvPr/>
        </p:nvSpPr>
        <p:spPr>
          <a:xfrm>
            <a:off x="9658350" y="2647950"/>
            <a:ext cx="1504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runtime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 p=3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81104-FA0F-4DA2-9473-CC4F5555F8B3}"/>
              </a:ext>
            </a:extLst>
          </p:cNvPr>
          <p:cNvSpPr>
            <a:spLocks noGrp="1"/>
          </p:cNvSpPr>
          <p:nvPr/>
        </p:nvSpPr>
        <p:spPr>
          <a:xfrm>
            <a:off x="7143750" y="3829050"/>
            <a:ext cx="426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344" lnSpcReduction="20000"/>
          </a:bodyPr>
          <a:lstStyle/>
          <a:p>
            <a:pPr algn="l">
              <a:defRPr sz="180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Seven of nine runs matched the exact optimum.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4684B6-DAE0-4021-BDA2-C4BD588054C0}"/>
              </a:ext>
            </a:extLst>
          </p:cNvPr>
          <p:cNvSpPr>
            <a:spLocks noGrp="1"/>
          </p:cNvSpPr>
          <p:nvPr/>
        </p:nvSpPr>
        <p:spPr>
          <a:xfrm>
            <a:off x="7143750" y="4476750"/>
            <a:ext cx="4267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Initialization and classical parameter optimization mattered more than simply adding circuit depth.</a:t>
            </a:r>
          </a:p>
        </p:txBody>
      </p:sp>
    </p:spTree>
    <p:extLst>
      <p:ext uri="{BB962C8B-B14F-4D97-AF65-F5344CB8AC3E}">
        <p14:creationId xmlns:p14="http://schemas.microsoft.com/office/powerpoint/2010/main" val="87745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5E95A0-F1CA-4D16-9DA4-74250AECD6E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encoding reaches 313 qubits and 23,187 interactions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1D5DBE-1918-4571-BB06-B277847739E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00200"/>
            <a:ext cx="6858000" cy="4191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2DAE4B-29FD-4E40-968E-A3ACC7DB43FB}"/>
              </a:ext>
            </a:extLst>
          </p:cNvPr>
          <p:cNvSpPr>
            <a:spLocks noGrp="1"/>
          </p:cNvSpPr>
          <p:nvPr/>
        </p:nvSpPr>
        <p:spPr>
          <a:xfrm>
            <a:off x="7715250" y="142875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53B3F-4745-4F51-870C-3F782E66B42E}"/>
              </a:ext>
            </a:extLst>
          </p:cNvPr>
          <p:cNvSpPr>
            <a:spLocks noGrp="1"/>
          </p:cNvSpPr>
          <p:nvPr/>
        </p:nvSpPr>
        <p:spPr>
          <a:xfrm>
            <a:off x="7962900" y="171450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A48D9-C2A4-4AC9-99BB-17EEA60CC675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logical qubits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CE7BF4-7E57-435D-8CD6-EEFCF87D63F5}"/>
              </a:ext>
            </a:extLst>
          </p:cNvPr>
          <p:cNvSpPr>
            <a:spLocks noGrp="1"/>
          </p:cNvSpPr>
          <p:nvPr/>
        </p:nvSpPr>
        <p:spPr>
          <a:xfrm>
            <a:off x="9715500" y="142875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B1B0F4-3AA5-4E48-969A-E36EACB61564}"/>
              </a:ext>
            </a:extLst>
          </p:cNvPr>
          <p:cNvSpPr>
            <a:spLocks noGrp="1"/>
          </p:cNvSpPr>
          <p:nvPr/>
        </p:nvSpPr>
        <p:spPr>
          <a:xfrm>
            <a:off x="9963150" y="171450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23,187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766B3-36CB-4CA3-8A55-23AE29BFD0D1}"/>
              </a:ext>
            </a:extLst>
          </p:cNvPr>
          <p:cNvSpPr>
            <a:spLocks noGrp="1"/>
          </p:cNvSpPr>
          <p:nvPr/>
        </p:nvSpPr>
        <p:spPr>
          <a:xfrm>
            <a:off x="9963150" y="2533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quadratic terms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7542A6-813F-4B41-9414-4E494CE710DE}"/>
              </a:ext>
            </a:extLst>
          </p:cNvPr>
          <p:cNvSpPr>
            <a:spLocks noGrp="1"/>
          </p:cNvSpPr>
          <p:nvPr/>
        </p:nvSpPr>
        <p:spPr>
          <a:xfrm>
            <a:off x="7715250" y="333375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01D4B-6798-46E0-BFF1-1E28264B1934}"/>
              </a:ext>
            </a:extLst>
          </p:cNvPr>
          <p:cNvSpPr>
            <a:spLocks noGrp="1"/>
          </p:cNvSpPr>
          <p:nvPr/>
        </p:nvSpPr>
        <p:spPr>
          <a:xfrm>
            <a:off x="7962900" y="361950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46,374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4B642-6554-46AF-9C54-9D235C5B2C3B}"/>
              </a:ext>
            </a:extLst>
          </p:cNvPr>
          <p:cNvSpPr>
            <a:spLocks noGrp="1"/>
          </p:cNvSpPr>
          <p:nvPr/>
        </p:nvSpPr>
        <p:spPr>
          <a:xfrm>
            <a:off x="7962900" y="4438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704" lnSpcReduction="10000"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two-qubit gates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 p=1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5391A9-BB4A-4D15-A52E-6E82909291DD}"/>
              </a:ext>
            </a:extLst>
          </p:cNvPr>
          <p:cNvSpPr>
            <a:spLocks noGrp="1"/>
          </p:cNvSpPr>
          <p:nvPr/>
        </p:nvSpPr>
        <p:spPr>
          <a:xfrm>
            <a:off x="9715500" y="333375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BCC462-F79C-486F-AE0C-B125BF5E01F0}"/>
              </a:ext>
            </a:extLst>
          </p:cNvPr>
          <p:cNvSpPr>
            <a:spLocks noGrp="1"/>
          </p:cNvSpPr>
          <p:nvPr/>
        </p:nvSpPr>
        <p:spPr>
          <a:xfrm>
            <a:off x="9963150" y="361950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33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2²⁸⁷ GB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550C32-97EA-4314-A266-D7B437A6C72B}"/>
              </a:ext>
            </a:extLst>
          </p:cNvPr>
          <p:cNvSpPr>
            <a:spLocks noGrp="1"/>
          </p:cNvSpPr>
          <p:nvPr/>
        </p:nvSpPr>
        <p:spPr>
          <a:xfrm>
            <a:off x="9963150" y="4438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704" lnSpcReduction="10000"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statevector</a:t>
            </a:r>
          </a:p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memory estimate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D31BE-D2EC-445F-9A42-78F67347178A}"/>
              </a:ext>
            </a:extLst>
          </p:cNvPr>
          <p:cNvSpPr>
            <a:spLocks noGrp="1"/>
          </p:cNvSpPr>
          <p:nvPr/>
        </p:nvSpPr>
        <p:spPr>
          <a:xfrm>
            <a:off x="7715250" y="53911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45" lnSpcReduction="10000"/>
          </a:bodyPr>
          <a:lstStyle/>
          <a:p>
            <a:pPr algn="l">
              <a:defRPr sz="157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Full dense statevector simulation is infeasible.</a:t>
            </a:r>
          </a:p>
        </p:txBody>
      </p:sp>
    </p:spTree>
    <p:extLst>
      <p:ext uri="{BB962C8B-B14F-4D97-AF65-F5344CB8AC3E}">
        <p14:creationId xmlns:p14="http://schemas.microsoft.com/office/powerpoint/2010/main" val="38251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66DF39D-7704-4121-9926-BAF505C9C91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Stem encoding cuts variables while retaining MFE-pair coverage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939C0-8753-4B9E-AFBA-91DD0C90DFA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400050" y="1447800"/>
          <a:ext cx="68580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D14263-C32D-4322-A1D3-FEF9AE2F9286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3429000" cy="17145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4D81-4118-4010-AC58-227D81B9A271}"/>
              </a:ext>
            </a:extLst>
          </p:cNvPr>
          <p:cNvSpPr>
            <a:spLocks noGrp="1"/>
          </p:cNvSpPr>
          <p:nvPr/>
        </p:nvSpPr>
        <p:spPr>
          <a:xfrm>
            <a:off x="8058150" y="186690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36.1%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CFDBB3-8A1B-477E-9436-D0C1E2C08E37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2933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variable reduction at 44 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ADEFD9-4CE2-4B12-A91F-6EDCF78CABFF}"/>
              </a:ext>
            </a:extLst>
          </p:cNvPr>
          <p:cNvSpPr>
            <a:spLocks noGrp="1"/>
          </p:cNvSpPr>
          <p:nvPr/>
        </p:nvSpPr>
        <p:spPr>
          <a:xfrm>
            <a:off x="7810500" y="3562350"/>
            <a:ext cx="3429000" cy="17145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94689-AC2D-43D8-AAAF-1F3530715193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87E12-502F-4C66-93CF-2DB4E5757727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2933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MFE-pair candidate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7F12-B7B1-4529-A0BE-04581C87B8B1}"/>
              </a:ext>
            </a:extLst>
          </p:cNvPr>
          <p:cNvSpPr>
            <a:spLocks noGrp="1"/>
          </p:cNvSpPr>
          <p:nvPr/>
        </p:nvSpPr>
        <p:spPr>
          <a:xfrm>
            <a:off x="7810500" y="55054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Trade-off: stem variables are compact but can exclude isolated pairs and need careful overlap constraints.</a:t>
            </a:r>
          </a:p>
        </p:txBody>
      </p:sp>
    </p:spTree>
    <p:extLst>
      <p:ext uri="{BB962C8B-B14F-4D97-AF65-F5344CB8AC3E}">
        <p14:creationId xmlns:p14="http://schemas.microsoft.com/office/powerpoint/2010/main" val="23005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304B1E4-591D-4DF4-BD81-EA14830B29A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85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29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Structural validity did not translate into thermodynamic quality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DAA4B-6CB1-415A-98AF-1039B5028E7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CEB17-85E0-4B8A-A8B5-8093F85BA515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 44-nt classical QUBO baseline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0B6A04-9A54-4964-86B3-5A50483A331E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C62B6-4EBA-4E1E-8B2C-993370E8003A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A9E2F-1E0D-4594-ACFF-F69F2C541AE6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remaining conflicts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91D309-EE59-45FF-B64A-CCC12A5AD8BB}"/>
              </a:ext>
            </a:extLst>
          </p:cNvPr>
          <p:cNvSpPr>
            <a:spLocks noGrp="1"/>
          </p:cNvSpPr>
          <p:nvPr/>
        </p:nvSpPr>
        <p:spPr>
          <a:xfrm>
            <a:off x="2686050" y="18669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4DF016-9A22-4B82-8DBD-903A610CD3A6}"/>
              </a:ext>
            </a:extLst>
          </p:cNvPr>
          <p:cNvSpPr>
            <a:spLocks noGrp="1"/>
          </p:cNvSpPr>
          <p:nvPr/>
        </p:nvSpPr>
        <p:spPr>
          <a:xfrm>
            <a:off x="2933700" y="215265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70F834-EAFF-4F6B-BABA-C75E5BA61B6F}"/>
              </a:ext>
            </a:extLst>
          </p:cNvPr>
          <p:cNvSpPr>
            <a:spLocks noGrp="1"/>
          </p:cNvSpPr>
          <p:nvPr/>
        </p:nvSpPr>
        <p:spPr>
          <a:xfrm>
            <a:off x="2933700" y="29718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base-pair F1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1C0E5F-7ABE-4EC4-AEFF-850CE0108816}"/>
              </a:ext>
            </a:extLst>
          </p:cNvPr>
          <p:cNvSpPr>
            <a:spLocks noGrp="1"/>
          </p:cNvSpPr>
          <p:nvPr/>
        </p:nvSpPr>
        <p:spPr>
          <a:xfrm>
            <a:off x="4972050" y="18669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FE1B4F-AB29-4E17-8B9A-1650AF7C08FF}"/>
              </a:ext>
            </a:extLst>
          </p:cNvPr>
          <p:cNvSpPr>
            <a:spLocks noGrp="1"/>
          </p:cNvSpPr>
          <p:nvPr/>
        </p:nvSpPr>
        <p:spPr>
          <a:xfrm>
            <a:off x="5219700" y="215265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+21.7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F4EFAC-A666-43D7-970B-DB6D4FB55914}"/>
              </a:ext>
            </a:extLst>
          </p:cNvPr>
          <p:cNvSpPr>
            <a:spLocks noGrp="1"/>
          </p:cNvSpPr>
          <p:nvPr/>
        </p:nvSpPr>
        <p:spPr>
          <a:xfrm>
            <a:off x="5219700" y="29718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Vienna energy gap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311C20-F51E-4726-ABB8-728FCB392B6A}"/>
              </a:ext>
            </a:extLst>
          </p:cNvPr>
          <p:cNvSpPr>
            <a:spLocks noGrp="1"/>
          </p:cNvSpPr>
          <p:nvPr/>
        </p:nvSpPr>
        <p:spPr>
          <a:xfrm>
            <a:off x="7524750" y="1257300"/>
            <a:ext cx="4267200" cy="4000500"/>
          </a:xfrm>
          <a:prstGeom prst="roundRect">
            <a:avLst>
              <a:gd name="adj" fmla="val 1905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F8ED45-DB50-4382-B39A-99BD8D8FE459}"/>
              </a:ext>
            </a:extLst>
          </p:cNvPr>
          <p:cNvSpPr>
            <a:spLocks noGrp="1"/>
          </p:cNvSpPr>
          <p:nvPr/>
        </p:nvSpPr>
        <p:spPr>
          <a:xfrm>
            <a:off x="7829550" y="15811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Noise experiment • 9-qubit instance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DE32D-11AF-4697-9503-39ADE11F79F4}"/>
              </a:ext>
            </a:extLst>
          </p:cNvPr>
          <p:cNvSpPr>
            <a:spLocks noGrp="1"/>
          </p:cNvSpPr>
          <p:nvPr/>
        </p:nvSpPr>
        <p:spPr>
          <a:xfrm>
            <a:off x="7829550" y="22669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8A213-0CF4-480C-A0A6-5010FD56D23C}"/>
              </a:ext>
            </a:extLst>
          </p:cNvPr>
          <p:cNvSpPr>
            <a:spLocks noGrp="1"/>
          </p:cNvSpPr>
          <p:nvPr/>
        </p:nvSpPr>
        <p:spPr>
          <a:xfrm>
            <a:off x="9277350" y="22669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1q / 2q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0689B-7C6D-44DC-8671-E85888B94085}"/>
              </a:ext>
            </a:extLst>
          </p:cNvPr>
          <p:cNvSpPr>
            <a:spLocks noGrp="1"/>
          </p:cNvSpPr>
          <p:nvPr/>
        </p:nvSpPr>
        <p:spPr>
          <a:xfrm>
            <a:off x="10477500" y="22669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CF1356-D8DF-4E40-B7A7-F22837E7FE36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Ideal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19AA27-6CBA-4B8A-8278-E9202182B01C}"/>
              </a:ext>
            </a:extLst>
          </p:cNvPr>
          <p:cNvSpPr>
            <a:spLocks noGrp="1"/>
          </p:cNvSpPr>
          <p:nvPr/>
        </p:nvSpPr>
        <p:spPr>
          <a:xfrm>
            <a:off x="9277350" y="2724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5B83F1-0409-4E0D-B708-7E14DAF1D2A6}"/>
              </a:ext>
            </a:extLst>
          </p:cNvPr>
          <p:cNvSpPr>
            <a:spLocks noGrp="1"/>
          </p:cNvSpPr>
          <p:nvPr/>
        </p:nvSpPr>
        <p:spPr>
          <a:xfrm>
            <a:off x="10477500" y="27241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3 /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B9FFF-5DFE-4E2E-9949-5221FA9740D5}"/>
              </a:ext>
            </a:extLst>
          </p:cNvPr>
          <p:cNvSpPr>
            <a:spLocks noGrp="1"/>
          </p:cNvSpPr>
          <p:nvPr/>
        </p:nvSpPr>
        <p:spPr>
          <a:xfrm>
            <a:off x="7829550" y="3429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Low noise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EE9C26-7C83-4854-8986-DCEB8A669701}"/>
              </a:ext>
            </a:extLst>
          </p:cNvPr>
          <p:cNvSpPr>
            <a:spLocks noGrp="1"/>
          </p:cNvSpPr>
          <p:nvPr/>
        </p:nvSpPr>
        <p:spPr>
          <a:xfrm>
            <a:off x="9277350" y="3429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0.1% / 1%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5B89E-E31C-481E-AA52-597A3B578F1C}"/>
              </a:ext>
            </a:extLst>
          </p:cNvPr>
          <p:cNvSpPr>
            <a:spLocks noGrp="1"/>
          </p:cNvSpPr>
          <p:nvPr/>
        </p:nvSpPr>
        <p:spPr>
          <a:xfrm>
            <a:off x="10477500" y="34290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3 /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EBA8FD-8392-48CE-8293-E4F172E2B2D6}"/>
              </a:ext>
            </a:extLst>
          </p:cNvPr>
          <p:cNvSpPr>
            <a:spLocks noGrp="1"/>
          </p:cNvSpPr>
          <p:nvPr/>
        </p:nvSpPr>
        <p:spPr>
          <a:xfrm>
            <a:off x="7829550" y="413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 noise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765E2A-9170-4BBF-8E2B-A8B4AEEB8D29}"/>
              </a:ext>
            </a:extLst>
          </p:cNvPr>
          <p:cNvSpPr>
            <a:spLocks noGrp="1"/>
          </p:cNvSpPr>
          <p:nvPr/>
        </p:nvSpPr>
        <p:spPr>
          <a:xfrm>
            <a:off x="9277350" y="41338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0.5% / 3%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97FBAE-4E8E-414A-828B-7779CEBA8F98}"/>
              </a:ext>
            </a:extLst>
          </p:cNvPr>
          <p:cNvSpPr>
            <a:spLocks noGrp="1"/>
          </p:cNvSpPr>
          <p:nvPr/>
        </p:nvSpPr>
        <p:spPr>
          <a:xfrm>
            <a:off x="10477500" y="4133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3 /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06C150-8D7A-4FFD-BF79-1102FC51205E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666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Small-instance robustness is encouraging—but does not establish large-instance noise tolerance.</a:t>
            </a:r>
          </a:p>
        </p:txBody>
      </p:sp>
    </p:spTree>
    <p:extLst>
      <p:ext uri="{BB962C8B-B14F-4D97-AF65-F5344CB8AC3E}">
        <p14:creationId xmlns:p14="http://schemas.microsoft.com/office/powerpoint/2010/main" val="179413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B3E0CA2-CC70-4F23-9BA3-B52597CCCB4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54ACD4-98D6-43CC-8D63-F19DD0442C91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0572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03" lnSpcReduction="10000"/>
          </a:bodyPr>
          <a:lstStyle/>
          <a:p>
            <a:pPr algn="l">
              <a:defRPr sz="34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4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next breakthrough is </a:t>
            </a:r>
            <a:r>
              <a:rPr sz="34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better </a:t>
            </a:r>
            <a:r>
              <a:rPr sz="3450" b="1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modeling</a:t>
            </a:r>
            <a:r>
              <a:rPr lang="en-US" sz="3450" b="1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3450" b="1" smtClean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not </a:t>
            </a:r>
            <a:r>
              <a:rPr sz="34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simply more qubits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3447C1-2632-4649-B934-05C215614CB3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3429000" cy="2095500"/>
          </a:xfrm>
          <a:prstGeom prst="roundRect">
            <a:avLst>
              <a:gd name="adj" fmla="val 3636"/>
            </a:avLst>
          </a:prstGeom>
          <a:solidFill>
            <a:srgbClr val="EAF5FB"/>
          </a:solidFill>
          <a:ln w="9525">
            <a:solidFill>
              <a:srgbClr val="8CCFE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69716-2318-4165-AD11-1510C4708DA8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348E3-9FAC-4523-B44D-8D09B2717911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defRPr sz="17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Add thermodynamic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8A8F8-A04F-4E9D-8484-F1C79E86754B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Encode stacking, loops, bulges, and multiloops.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31CA4E-1579-4824-952D-4FC7E97250D0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3429000" cy="20955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82302-BD76-4D19-929E-EB3642158BCA}"/>
              </a:ext>
            </a:extLst>
          </p:cNvPr>
          <p:cNvSpPr>
            <a:spLocks noGrp="1"/>
          </p:cNvSpPr>
          <p:nvPr/>
        </p:nvSpPr>
        <p:spPr>
          <a:xfrm>
            <a:off x="4419600" y="31813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C63AE7-571C-4B4F-A5D4-3F189789BFEB}"/>
              </a:ext>
            </a:extLst>
          </p:cNvPr>
          <p:cNvSpPr>
            <a:spLocks noGrp="1"/>
          </p:cNvSpPr>
          <p:nvPr/>
        </p:nvSpPr>
        <p:spPr>
          <a:xfrm>
            <a:off x="4419600" y="363855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Reduce the search space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AFF50F-2174-4025-878F-1FF4892C7F59}"/>
              </a:ext>
            </a:extLst>
          </p:cNvPr>
          <p:cNvSpPr>
            <a:spLocks noGrp="1"/>
          </p:cNvSpPr>
          <p:nvPr/>
        </p:nvSpPr>
        <p:spPr>
          <a:xfrm>
            <a:off x="4419600" y="43624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probability-guided pruning and compact stem variables.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6D986E7-0045-4971-A959-F98A16EC6462}"/>
              </a:ext>
            </a:extLst>
          </p:cNvPr>
          <p:cNvSpPr>
            <a:spLocks noGrp="1"/>
          </p:cNvSpPr>
          <p:nvPr/>
        </p:nvSpPr>
        <p:spPr>
          <a:xfrm>
            <a:off x="7981950" y="2952750"/>
            <a:ext cx="3429000" cy="20955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40F72B-C25F-43FD-8727-71DBC87B0342}"/>
              </a:ext>
            </a:extLst>
          </p:cNvPr>
          <p:cNvSpPr>
            <a:spLocks noGrp="1"/>
          </p:cNvSpPr>
          <p:nvPr/>
        </p:nvSpPr>
        <p:spPr>
          <a:xfrm>
            <a:off x="8210550" y="31813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55DE1-B984-49E0-9B5A-DD76A30F4F65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Scale the optimizer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998BA-680A-48A0-929B-DD7F1313DEED}"/>
              </a:ext>
            </a:extLst>
          </p:cNvPr>
          <p:cNvSpPr>
            <a:spLocks noGrp="1"/>
          </p:cNvSpPr>
          <p:nvPr/>
        </p:nvSpPr>
        <p:spPr>
          <a:xfrm>
            <a:off x="8210550" y="43624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 warm-start, recursive, and decomposition-based QAOA.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4901D3-D1E0-4B3F-879A-175F1F94D5C5}"/>
              </a:ext>
            </a:extLst>
          </p:cNvPr>
          <p:cNvSpPr>
            <a:spLocks noGrp="1"/>
          </p:cNvSpPr>
          <p:nvPr/>
        </p:nvSpPr>
        <p:spPr>
          <a:xfrm>
            <a:off x="400050" y="5734050"/>
            <a:ext cx="1076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43" lnSpcReduction="10000"/>
          </a:bodyPr>
          <a:lstStyle/>
          <a:p>
            <a:pPr algn="l">
              <a:defRPr sz="165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Bottom line: the proof of concept works on 9 qubits; biologically faithful scaling requires a smarter objective and decomposition.</a:t>
            </a:r>
          </a:p>
        </p:txBody>
      </p:sp>
    </p:spTree>
    <p:extLst>
      <p:ext uri="{BB962C8B-B14F-4D97-AF65-F5344CB8AC3E}">
        <p14:creationId xmlns:p14="http://schemas.microsoft.com/office/powerpoint/2010/main" val="5631141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571</Words>
  <Application>Microsoft Office PowerPoint</Application>
  <DocSecurity>0</DocSecurity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RAVI KUMAR</cp:lastModifiedBy>
  <cp:revision>2</cp:revision>
  <dcterms:created xsi:type="dcterms:W3CDTF">2026-07-23T06:13:22Z</dcterms:created>
  <dcterms:modified xsi:type="dcterms:W3CDTF">2026-07-23T06:19:32Z</dcterms:modified>
</cp:coreProperties>
</file>